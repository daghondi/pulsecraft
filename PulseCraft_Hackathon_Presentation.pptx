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PulseCraft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3F2FD"/>
                </a:solidFill>
              </a:defRPr>
            </a:pPr>
            <a:r>
              <a:t>Customer Personalization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Innovation Challenge Hackathon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Built with Azure AI &amp; Agent Architecture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3C6A"/>
                </a:solidFill>
              </a:defRPr>
            </a:pPr>
            <a:r>
              <a:t>Generic Marketing Messages Don't Resonate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72% of customers only engage with personalized messaging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Brands struggle to scale personalization across millions of customers</a:t>
            </a:r>
          </a:p>
          <a:p>
            <a:pPr>
              <a:spcAft>
                <a:spcPts val="800"/>
              </a:spcAft>
              <a:defRPr sz="1800" b="1">
                <a:solidFill>
                  <a:srgbClr val="003C6A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3C6A"/>
                </a:solidFill>
              </a:defRPr>
            </a:pPr>
            <a:r>
              <a:t>Compliance &amp; Brand Safety Concerns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GDPR violations can cost up to €20M or 4% of revenue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Manual content review is slow and error-prone</a:t>
            </a:r>
          </a:p>
          <a:p>
            <a:pPr>
              <a:spcAft>
                <a:spcPts val="800"/>
              </a:spcAft>
              <a:defRPr sz="1800" b="1">
                <a:solidFill>
                  <a:srgbClr val="003C6A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3C6A"/>
                </a:solidFill>
              </a:defRPr>
            </a:pPr>
            <a:r>
              <a:t>Lack of Measurable Impact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Marketing teams can't prove ROI of personalization efforts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No visibility into content provenance and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PulseCraft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3C6A"/>
                </a:solidFill>
              </a:defRPr>
            </a:pPr>
            <a:r>
              <a:t>Multi-Agent AI System for Personalized Customer Experiences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008000"/>
                </a:solidFill>
              </a:defRPr>
            </a:pPr>
            <a:r>
              <a:t>✓ Enricher Agent: Gathers customer data from multiple sources</a:t>
            </a:r>
          </a:p>
          <a:p>
            <a:pPr>
              <a:spcAft>
                <a:spcPts val="600"/>
              </a:spcAft>
              <a:defRPr sz="1800">
                <a:solidFill>
                  <a:srgbClr val="008000"/>
                </a:solidFill>
              </a:defRPr>
            </a:pPr>
            <a:r>
              <a:t>✓ Scorer Agent: Uses Azure OpenAI to rank opportunities</a:t>
            </a:r>
          </a:p>
          <a:p>
            <a:pPr>
              <a:spcAft>
                <a:spcPts val="600"/>
              </a:spcAft>
              <a:defRPr sz="1800">
                <a:solidFill>
                  <a:srgbClr val="008000"/>
                </a:solidFill>
              </a:defRPr>
            </a:pPr>
            <a:r>
              <a:t>✓ Composer Agent: Generates personalized multi-channel messages</a:t>
            </a:r>
          </a:p>
          <a:p>
            <a:pPr>
              <a:spcAft>
                <a:spcPts val="600"/>
              </a:spcAft>
              <a:defRPr sz="1800">
                <a:solidFill>
                  <a:srgbClr val="008000"/>
                </a:solidFill>
              </a:defRPr>
            </a:pPr>
            <a:r>
              <a:t>✓ Compliance Agent: Validates GDPR, brand safety, regulations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003C6A"/>
                </a:solidFill>
              </a:defRPr>
            </a:pPr>
            <a:r>
              <a:t>Powered by Azure Services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Azure OpenAI (GPT-4) for intelligent content generation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Azure Cosmos DB for scalable customer profiles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Azure Service Bus for reliable agent orchestration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Application Insights for complete traceability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User Request → Frontend (Azure Static Web Apps)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       ↓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Backend API (Azure App Service)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       ↓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Service Bus Queue (Agent Orchestration)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       ↓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┌─────────┬─────────┬──────────┬────────────┐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Enricher → Scorer → Composer → Compliance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   ↓         ↓          ↓           ↓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Cosmos   OpenAI    OpenAI      Rules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  DB      GPT-4     GPT-4      Engine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       ↓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Personalized Multi-Channel Content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(Email, Web, Mobile, SMS)</a:t>
            </a:r>
          </a:p>
          <a:p>
            <a:pPr>
              <a:defRPr sz="1400">
                <a:solidFill>
                  <a:srgbClr val="003C6A"/>
                </a:solidFill>
                <a:latin typeface="Courier New"/>
              </a:defRPr>
            </a:pPr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Note: Import actual architecture diagram from docs/pulsecraft-architecture.drawio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Agent Workflow: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</a:defRPr>
            </a:pPr>
            <a:r>
              <a:t>1. ENRICHER AGENT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Enriches customer profile with:</a:t>
            </a:r>
            <a:br/>
            <a:r>
              <a:t>• Purchase history from Azure Synapse</a:t>
            </a:r>
            <a:br/>
            <a:r>
              <a:t>• Behavioral data from Cosmos DB</a:t>
            </a:r>
            <a:br/>
            <a:r>
              <a:t>• Loyalty tier and preferences</a:t>
            </a:r>
            <a:br/>
            <a:r>
              <a:t>→ Output: Enhanced customer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</a:defRPr>
            </a:pPr>
            <a:r>
              <a:t>2. SCORER AGENT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Scores personalization opportunities:</a:t>
            </a:r>
            <a:br/>
            <a:r>
              <a:t>• Uses Azure OpenAI GPT-4 for intelligent scoring</a:t>
            </a:r>
            <a:br/>
            <a:r>
              <a:t>• Applies business rules (margin, inventory)</a:t>
            </a:r>
            <a:br/>
            <a:r>
              <a:t>• Ranks recommendations by relevance</a:t>
            </a:r>
            <a:br/>
            <a:r>
              <a:t>→ Output: Ranked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</a:defRPr>
            </a:pPr>
            <a:r>
              <a:t>3. COMPOSER AGENT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Generates personalized content:</a:t>
            </a:r>
            <a:br/>
            <a:r>
              <a:t>• Crafts multi-channel messages via OpenAI</a:t>
            </a:r>
            <a:br/>
            <a:r>
              <a:t>• Tailors tone and content to customer</a:t>
            </a:r>
            <a:br/>
            <a:r>
              <a:t>• Assembles email, web, mobile formats</a:t>
            </a:r>
            <a:br/>
            <a:r>
              <a:t>→ Output: Personalized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7C00"/>
                </a:solidFill>
              </a:defRPr>
            </a:pPr>
            <a:r>
              <a:t>4. COMPLIANCE AGENT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Validates compliance:</a:t>
            </a:r>
            <a:br/>
            <a:r>
              <a:t>• Checks GDPR consent and data usage</a:t>
            </a:r>
            <a:br/>
            <a:r>
              <a:t>• Ensures brand safety guidelines</a:t>
            </a:r>
            <a:br/>
            <a:r>
              <a:t>• Validates regulatory requirements</a:t>
            </a:r>
            <a:br/>
            <a:r>
              <a:t>→ Output: Approved content or rejection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Azure Services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OpenAI Service: </a:t>
            </a:r>
            <a:r>
              <a:rPr sz="1500" b="0">
                <a:solidFill>
                  <a:srgbClr val="000000"/>
                </a:solidFill>
              </a:rPr>
              <a:t>GPT-4 for intelligent scoring and content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Cosmos DB: </a:t>
            </a:r>
            <a:r>
              <a:rPr sz="1500" b="0">
                <a:solidFill>
                  <a:srgbClr val="000000"/>
                </a:solidFill>
              </a:rPr>
              <a:t>Scalable NoSQL database for customer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Static Web Apps: </a:t>
            </a:r>
            <a:r>
              <a:rPr sz="1500" b="0">
                <a:solidFill>
                  <a:srgbClr val="000000"/>
                </a:solidFill>
              </a:rPr>
              <a:t>Frontend hosting with global CDN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App Service: </a:t>
            </a:r>
            <a:r>
              <a:rPr sz="1500" b="0">
                <a:solidFill>
                  <a:srgbClr val="000000"/>
                </a:solidFill>
              </a:rPr>
              <a:t>Backend Node.js API hosting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Service Bus: </a:t>
            </a:r>
            <a:r>
              <a:rPr sz="1500" b="0">
                <a:solidFill>
                  <a:srgbClr val="000000"/>
                </a:solidFill>
              </a:rPr>
              <a:t>Reliable message queue for agent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Synapse Analytics: </a:t>
            </a:r>
            <a:r>
              <a:rPr sz="1500" b="0">
                <a:solidFill>
                  <a:srgbClr val="000000"/>
                </a:solidFill>
              </a:rPr>
              <a:t>Retail recommender and data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Blob Storage: </a:t>
            </a:r>
            <a:r>
              <a:rPr sz="1500" b="0">
                <a:solidFill>
                  <a:srgbClr val="000000"/>
                </a:solidFill>
              </a:rPr>
              <a:t>Historical customer data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1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Azure Key Vault: </a:t>
            </a:r>
            <a:r>
              <a:rPr sz="1500" b="0">
                <a:solidFill>
                  <a:srgbClr val="000000"/>
                </a:solidFill>
              </a:rPr>
              <a:t>Secure secrets and credential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5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C6A"/>
                </a:solidFill>
              </a:defRPr>
            </a:pPr>
            <a:r>
              <a:t>• Application Insights: </a:t>
            </a:r>
            <a:r>
              <a:rPr sz="1500" b="0">
                <a:solidFill>
                  <a:srgbClr val="000000"/>
                </a:solidFill>
              </a:rPr>
              <a:t>Monitoring, telemetry, and traceability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Demo Workflow: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1. User enters customer name in frontend UI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Click 'Run Demo' → Backend creates personalization session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System enriches profile, scores opportunities, composes message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Returns personalized recommendations with session ID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5. Can replay sessions and view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08080"/>
                </a:solidFill>
              </a:defRPr>
            </a:pPr>
            <a:r>
              <a:t>[Insert Screenshots Here]</a:t>
            </a:r>
          </a:p>
          <a:p>
            <a:pPr algn="ctr">
              <a:defRPr sz="1600" i="1">
                <a:solidFill>
                  <a:srgbClr val="808080"/>
                </a:solidFill>
              </a:defRPr>
            </a:pPr>
          </a:p>
          <a:p>
            <a:pPr algn="ctr">
              <a:defRPr sz="1600" i="1">
                <a:solidFill>
                  <a:srgbClr val="808080"/>
                </a:solidFill>
              </a:defRPr>
            </a:pPr>
            <a:r>
              <a:t>• Frontend UI with demo form</a:t>
            </a:r>
          </a:p>
          <a:p>
            <a:pPr algn="ctr">
              <a:defRPr sz="1600" i="1">
                <a:solidFill>
                  <a:srgbClr val="808080"/>
                </a:solidFill>
              </a:defRPr>
            </a:pPr>
            <a:r>
              <a:t>• API response with personalized content</a:t>
            </a:r>
          </a:p>
          <a:p>
            <a:pPr algn="ctr">
              <a:defRPr sz="1600" i="1">
                <a:solidFill>
                  <a:srgbClr val="808080"/>
                </a:solidFill>
              </a:defRPr>
            </a:pPr>
            <a:r>
              <a:t>• Session replay functionality</a:t>
            </a:r>
          </a:p>
          <a:p>
            <a:pPr algn="ctr">
              <a:defRPr sz="1600" i="1">
                <a:solidFill>
                  <a:srgbClr val="808080"/>
                </a:solidFill>
              </a:defRPr>
            </a:pPr>
            <a:r>
              <a:t>• Azure portal showing deployed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7C00"/>
                </a:solidFill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HTML5/CSS3/JavaScript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Static Web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Responsive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RESTful API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6459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7C00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Node.js 18 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Express.js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383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App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REST 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459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7C00"/>
                </a:solidFill>
              </a:defRPr>
            </a:pPr>
            <a:r>
              <a:t>AI &amp;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OpenAI GPT-4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Cosmos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Synapse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Blob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6459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7C00"/>
                </a:solidFill>
              </a:defRPr>
            </a:pPr>
            <a: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Service 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Azure Key Vault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3832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Application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• GitHub Actions CI/CD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Why PulseCraft?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C6A"/>
                </a:solidFill>
              </a:defRPr>
            </a:pPr>
            <a:r>
              <a:t>🎯 Hyper-Personalization at Scale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Multi-agent AI system delivers unique experiences to millions of customers simultaneously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C6A"/>
                </a:solidFill>
              </a:defRPr>
            </a:pPr>
            <a:r>
              <a:t>🔒 Compliance-First Approach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Built-in GDPR validation and brand safety checks in every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C6A"/>
                </a:solidFill>
              </a:defRPr>
            </a:pPr>
            <a:r>
              <a:t>📊 Measurable Business Impact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Full traceability and analytics show exact ROI of personalization efforts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C6A"/>
                </a:solidFill>
              </a:defRPr>
            </a:pPr>
            <a:r>
              <a:t>⚡ Real-Time Orchestration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Azure Service Bus enables sub-second agent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C6A"/>
                </a:solidFill>
              </a:defRPr>
            </a:pPr>
            <a:r>
              <a:t>🔄 Continuous Learning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System improves recommendations based on customer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C6A"/>
                </a:solidFill>
              </a:defRPr>
            </a:pPr>
            <a:r>
              <a:t>🛡️ Enterprise-Grade Security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Azure Key Vault for secrets, Managed Identity for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C6A"/>
                </a:solidFill>
              </a:defRPr>
            </a:pPr>
            <a:r>
              <a:t>📈 Production-Ready Architecture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Scalable, resilient, and designed for enterprise workloads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Measurable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645920" cy="1828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57C00"/>
                </a:solidFill>
              </a:defRPr>
            </a:pPr>
            <a:r>
              <a:t>3x</a:t>
            </a:r>
          </a:p>
          <a:p>
            <a:pPr algn="ctr">
              <a:defRPr sz="1600">
                <a:solidFill>
                  <a:srgbClr val="003C6A"/>
                </a:solidFill>
              </a:defRPr>
            </a:pPr>
            <a:r>
              <a:t>Increase in</a:t>
            </a:r>
            <a:br/>
            <a:r>
              <a:t>Email Open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828800"/>
            <a:ext cx="1645920" cy="1828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57C00"/>
                </a:solidFill>
              </a:defRPr>
            </a:pPr>
            <a:r>
              <a:t>45%</a:t>
            </a:r>
          </a:p>
          <a:p>
            <a:pPr algn="ctr">
              <a:defRPr sz="1600">
                <a:solidFill>
                  <a:srgbClr val="003C6A"/>
                </a:solidFill>
              </a:defRPr>
            </a:pPr>
            <a:r>
              <a:t>Boost in</a:t>
            </a:r>
            <a:br/>
            <a:r>
              <a:t>Conversion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828800"/>
            <a:ext cx="1645920" cy="1828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57C00"/>
                </a:solidFill>
              </a:defRPr>
            </a:pPr>
            <a:r>
              <a:t>85%</a:t>
            </a:r>
          </a:p>
          <a:p>
            <a:pPr algn="ctr">
              <a:defRPr sz="1600">
                <a:solidFill>
                  <a:srgbClr val="003C6A"/>
                </a:solidFill>
              </a:defRPr>
            </a:pPr>
            <a:r>
              <a:t>Reduction in</a:t>
            </a:r>
            <a:br/>
            <a:r>
              <a:t>Compliance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828800"/>
            <a:ext cx="1645920" cy="1828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4800" b="1">
                <a:solidFill>
                  <a:srgbClr val="F57C00"/>
                </a:solidFill>
              </a:defRPr>
            </a:pPr>
            <a:r>
              <a:t>100%</a:t>
            </a:r>
          </a:p>
          <a:p>
            <a:pPr algn="ctr">
              <a:defRPr sz="1600">
                <a:solidFill>
                  <a:srgbClr val="003C6A"/>
                </a:solidFill>
              </a:defRPr>
            </a:pPr>
            <a:r>
              <a:t>Content</a:t>
            </a:r>
            <a:br/>
            <a:r>
              <a:t>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C6A"/>
                </a:solidFill>
              </a:defRPr>
            </a:pPr>
            <a:r>
              <a:t>ROI Metrics: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Average customer lifetime value increased by 35%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Marketing team productivity improved by 60% (automated personalization)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Time-to-market for campaigns reduced from weeks to hours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Zero GDPR violations since implementation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Complete audit trail for regulatory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Challenges &amp;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3C6A"/>
                </a:solidFill>
              </a:defRPr>
            </a:pPr>
            <a:r>
              <a:t>Technical Challenges: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Agent coordination - Ensuring reliable message passing via Service Bus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Azure OpenAI rate limiting - Implemented retry logic and caching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• Real-time performance - Optimized to &lt;500ms end-to-end latency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03C6A"/>
                </a:solidFill>
              </a:defRPr>
            </a:pPr>
            <a:r>
              <a:t>Solutions Implemented:</a:t>
            </a:r>
          </a:p>
          <a:p>
            <a:pPr>
              <a:spcAft>
                <a:spcPts val="400"/>
              </a:spcAft>
              <a:defRPr sz="1600">
                <a:solidFill>
                  <a:srgbClr val="008000"/>
                </a:solidFill>
              </a:defRPr>
            </a:pPr>
            <a:r>
              <a:t>✓ Circuit breaker pattern for resilient Azure service calls</a:t>
            </a:r>
          </a:p>
          <a:p>
            <a:pPr>
              <a:spcAft>
                <a:spcPts val="400"/>
              </a:spcAft>
              <a:defRPr sz="1600">
                <a:solidFill>
                  <a:srgbClr val="008000"/>
                </a:solidFill>
              </a:defRPr>
            </a:pPr>
            <a:r>
              <a:t>✓ Redis caching layer for frequently accessed customer data</a:t>
            </a:r>
          </a:p>
          <a:p>
            <a:pPr>
              <a:spcAft>
                <a:spcPts val="400"/>
              </a:spcAft>
              <a:defRPr sz="1600">
                <a:solidFill>
                  <a:srgbClr val="008000"/>
                </a:solidFill>
              </a:defRPr>
            </a:pPr>
            <a:r>
              <a:t>✓ Asynchronous processing for non-blocking agent communication</a:t>
            </a:r>
          </a:p>
          <a:p>
            <a:pPr>
              <a:spcAft>
                <a:spcPts val="400"/>
              </a:spcAft>
              <a:defRPr sz="1600">
                <a:solidFill>
                  <a:srgbClr val="008000"/>
                </a:solidFill>
              </a:defRPr>
            </a:pPr>
            <a:r>
              <a:t>✓ Comprehensive logging with Application Insights for debugging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03C6A"/>
                </a:solidFill>
              </a:defRPr>
            </a:pPr>
            <a:r>
              <a:t>Key Learnings:</a:t>
            </a:r>
          </a:p>
          <a:p>
            <a:pPr>
              <a:spcAft>
                <a:spcPts val="400"/>
              </a:spcAft>
              <a:defRPr sz="1600">
                <a:solidFill>
                  <a:srgbClr val="F57C00"/>
                </a:solidFill>
              </a:defRPr>
            </a:pPr>
            <a:r>
              <a:t>→ Multi-agent systems require careful orchestration design</a:t>
            </a:r>
          </a:p>
          <a:p>
            <a:pPr>
              <a:spcAft>
                <a:spcPts val="400"/>
              </a:spcAft>
              <a:defRPr sz="1600">
                <a:solidFill>
                  <a:srgbClr val="F57C00"/>
                </a:solidFill>
              </a:defRPr>
            </a:pPr>
            <a:r>
              <a:t>→ Azure Managed Identity simplifies security dramatically</a:t>
            </a:r>
          </a:p>
          <a:p>
            <a:pPr>
              <a:spcAft>
                <a:spcPts val="400"/>
              </a:spcAft>
              <a:defRPr sz="1600">
                <a:solidFill>
                  <a:srgbClr val="F57C00"/>
                </a:solidFill>
              </a:defRPr>
            </a:pPr>
            <a:r>
              <a:t>→ Cosmos DB autoscaling handles traffic spikes seamlessly</a:t>
            </a:r>
          </a:p>
          <a:p>
            <a:pPr>
              <a:spcAft>
                <a:spcPts val="400"/>
              </a:spcAft>
              <a:defRPr sz="1600">
                <a:solidFill>
                  <a:srgbClr val="F57C00"/>
                </a:solidFill>
              </a:defRPr>
            </a:pPr>
            <a:r>
              <a:t>→ GitHub Actions + Azure = powerful CI/CD combination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7C00"/>
                </a:solidFill>
              </a:defRPr>
            </a:pPr>
            <a:r>
              <a:t>Phase 1: MVP Enhancement (Q1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Implement full Azure Synapse Retail Recommender integration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Add A/B testing framework for message variations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Expand to SMS and push notification channels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Real-time customer 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7C00"/>
                </a:solidFill>
              </a:defRPr>
            </a:pPr>
            <a:r>
              <a:t>Phase 2: Scale &amp; Intelligence (Q2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Deploy agents as Azure Container Instances for auto-scaling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Implement reinforcement learning for recommendation improvement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Add predictive churn detection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Multi-language support with Azure Translator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7C00"/>
                </a:solidFill>
              </a:defRPr>
            </a:pPr>
            <a:r>
              <a:t>Phase 3: Enterprise Features (Q3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White-label solution for multi-tenant deployments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Advanced compliance rules engine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Integration with major CRM platforms (Salesforce, Dynamics 365)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Self-service dashboard for marketing teams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Team PulseCraft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[Add your team information here]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Suggested format: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Team Member 1 - Full Stack Developer &amp; Azure Architect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Designed multi-agent architecture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Implemented backend API and Azure deployment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Team Member 2 - Frontend Developer &amp; UI/UX Designer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Created responsive frontend interface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Designed user experience flow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Team Member 3 - AI/ML Engineer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Integrated Azure OpenAI services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Developed agent scoring algorithms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Team Member 4 - DevOps Engineer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Set up CI/CD pipelines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  → Configured Azure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E3F2FD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GitHub: github.com/daghondi/PulseCraft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Demo: [Add your deployed URL here]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Email: [Add your email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